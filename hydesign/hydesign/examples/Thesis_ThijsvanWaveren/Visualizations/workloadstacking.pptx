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AEC"/>
    <a:srgbClr val="4E95D9"/>
    <a:srgbClr val="0B76A0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F6A22-128C-5FAB-E4CE-12DBBC207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B9B4E-2639-25E7-DE7E-B99FC36BB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DF6E3-290C-8AAE-304A-1050E975A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9F569-0E78-17D0-38A1-2F786CA25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51821-3C3D-120B-5A7F-FF6FDD4B3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098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6A43F-4872-7FB9-BC38-7A3549FB2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266D0-219F-71DF-D546-4C45EB9A3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DC81D-E0E4-CF70-98C9-6EC44A4A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400278-383C-29EE-D557-74968B42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C1104-34EB-7DA8-31FC-9ECCF8AE3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3599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84BC-E807-CE96-B346-0E2DEE101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D836D-97B3-9E6C-0E16-7E5DB56342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C1009-8EDB-D3A5-01DD-6D6EF850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F7EC0-7DD8-A0EC-374C-1AA818E0F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846A1-1F02-AEC0-2258-97F10DE8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058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2BE8-8399-9FD8-462A-629E306D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82A23-F71C-206F-6F11-31F2AB5BD0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EB52C-CA21-F4F4-00A4-561451E0F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ED3228-34D8-31F1-4471-ADC0E7B50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54617D-53D5-9C50-D037-1A0A7F57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ACE47-CB8E-4F3B-9CC1-85F20330B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334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3A5F-0231-5192-AB24-3C2B05445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32F0C-159B-43A7-3E19-B020E554D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14803-A32B-58AC-00A7-61BBD8AF0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7046C2-814C-1E68-0E48-D872D411F5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78B7A-C670-5211-FB04-727ACD823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34A7E-F512-13FF-CCF6-12189E35B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6D0F33-4901-70A0-7AE1-067AABA1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0061C1-83AF-AFD4-62B3-DF144460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9043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DF71-2BD6-9AF2-8E94-53588721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DCF13-16EA-3482-F828-BCD814D47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A18A70-27D9-59A1-75C6-6F2A4A0CD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4B9258-64E8-CE9B-5F86-B241DE182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67557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D8CCE-D57C-56DF-F6F3-E5C1E0B3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5D2B2-6D73-98CD-4237-473DA1DBC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D48C9-3C54-1304-555A-5030A6A9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6189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8B6A0-0CE6-C5DF-9A34-C9C8BF6B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5FC89-16C6-A885-5BA0-770405928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0789D-3043-02B6-1F36-AD3B046A9C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28534-032A-E9E7-17F6-4F62D7942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56008D-97C2-700D-01EB-A2FEBFA79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9E7C5-533D-B2E3-F3A9-6285885D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657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883EE-13BC-B7B6-BC28-C04C90DA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B6AE38-0B94-8A5E-42F6-F39BE3DAF3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78F504-11D6-15C7-65BD-6096AF04A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2D72A-F7D8-71B1-3175-6E1FFCFB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270B9B-FAD7-D4F7-3AE7-0A6DE05A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894BF-7C50-7B9E-1993-964D1F42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2508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709E-CF11-9BA5-DD7C-D2ED14973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EB1E7-FBEB-5951-AB9D-B7C8AED3F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B1644-03D0-C9A1-50C5-CD9233A06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A2D48-713F-F894-081C-0C1D992BA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D2EC8-94FA-64B3-E080-096930F4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976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368ECE-91BF-70CE-7C7B-A342D9649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E2AE3C-7485-6F30-CD92-DC16CD35E3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0A443-1001-9322-353B-55A9A0DFB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4C8F5-CBBC-8352-2533-989C2A2F4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37D2D-AE30-2634-4585-A55337C9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7834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732672-5C37-7F78-AC9A-A4608775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40BF4-1D17-28FE-51ED-FB4FC5DF0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606CC-BC00-3D4C-616E-413782828C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58BFE-ADAE-4BCC-8B45-19A221F00F80}" type="datetimeFigureOut">
              <a:rPr lang="nl-NL" smtClean="0"/>
              <a:t>2-3-2026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55E6-EF1D-9D00-5AEB-BCD84E7233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651E4-ECF1-8F38-255C-4583137912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22284-F1BF-495E-9FB3-CACF86019E4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8344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FA20BBC-D253-EB15-6CD8-1A96D1FFBF97}"/>
              </a:ext>
            </a:extLst>
          </p:cNvPr>
          <p:cNvGrpSpPr/>
          <p:nvPr/>
        </p:nvGrpSpPr>
        <p:grpSpPr>
          <a:xfrm>
            <a:off x="333346" y="235670"/>
            <a:ext cx="4995937" cy="6395013"/>
            <a:chOff x="2129725" y="754241"/>
            <a:chExt cx="3471317" cy="465182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21ECF7E-373B-E5EE-89BE-3053F4227A5C}"/>
                </a:ext>
              </a:extLst>
            </p:cNvPr>
            <p:cNvSpPr/>
            <p:nvPr/>
          </p:nvSpPr>
          <p:spPr>
            <a:xfrm>
              <a:off x="2792848" y="4329435"/>
              <a:ext cx="2808194" cy="1076627"/>
            </a:xfrm>
            <a:prstGeom prst="rect">
              <a:avLst/>
            </a:prstGeom>
            <a:solidFill>
              <a:srgbClr val="15608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Yearly Baseload </a:t>
              </a:r>
            </a:p>
            <a:p>
              <a:pPr algn="ctr"/>
              <a:r>
                <a:rPr lang="en-US" sz="2400" b="1" dirty="0"/>
                <a:t>(reserved instances)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6E79734-BCA7-74D7-ABDF-BB3A0309F8EE}"/>
                </a:ext>
              </a:extLst>
            </p:cNvPr>
            <p:cNvSpPr/>
            <p:nvPr/>
          </p:nvSpPr>
          <p:spPr>
            <a:xfrm>
              <a:off x="2792846" y="2190318"/>
              <a:ext cx="2808194" cy="2150666"/>
            </a:xfrm>
            <a:prstGeom prst="rect">
              <a:avLst/>
            </a:prstGeom>
            <a:solidFill>
              <a:srgbClr val="4E95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Daily/Weekly Schedulable</a:t>
              </a:r>
            </a:p>
            <a:p>
              <a:pPr algn="ctr"/>
              <a:r>
                <a:rPr lang="en-US" sz="2400" b="1" dirty="0"/>
                <a:t>(batch loads)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F8FB7FB-4B53-505E-9FBD-B82EF59E30B0}"/>
                </a:ext>
              </a:extLst>
            </p:cNvPr>
            <p:cNvSpPr/>
            <p:nvPr/>
          </p:nvSpPr>
          <p:spPr>
            <a:xfrm>
              <a:off x="2792849" y="754241"/>
              <a:ext cx="2808191" cy="1448145"/>
            </a:xfrm>
            <a:prstGeom prst="rect">
              <a:avLst/>
            </a:prstGeom>
            <a:solidFill>
              <a:srgbClr val="A6CA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Fully flexible</a:t>
              </a:r>
            </a:p>
            <a:p>
              <a:pPr algn="ctr"/>
              <a:r>
                <a:rPr lang="en-US" sz="2400" b="1" dirty="0"/>
                <a:t>(spot instances)</a:t>
              </a:r>
            </a:p>
          </p:txBody>
        </p:sp>
        <p:sp>
          <p:nvSpPr>
            <p:cNvPr id="8" name="TextBox 72">
              <a:extLst>
                <a:ext uri="{FF2B5EF4-FFF2-40B4-BE49-F238E27FC236}">
                  <a16:creationId xmlns:a16="http://schemas.microsoft.com/office/drawing/2014/main" id="{748B086E-82D8-80A7-3649-367F14264EA1}"/>
                </a:ext>
              </a:extLst>
            </p:cNvPr>
            <p:cNvSpPr txBox="1"/>
            <p:nvPr/>
          </p:nvSpPr>
          <p:spPr>
            <a:xfrm>
              <a:off x="2129726" y="4746589"/>
              <a:ext cx="651374" cy="24626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474747"/>
                  </a:solidFill>
                  <a:highlight>
                    <a:srgbClr val="FFFFFF"/>
                  </a:highlight>
                  <a:latin typeface="Arial"/>
                  <a:cs typeface="Arial"/>
                </a:rPr>
                <a:t>€€€€</a:t>
              </a:r>
              <a:endParaRPr lang="en-US" sz="1600" dirty="0"/>
            </a:p>
          </p:txBody>
        </p:sp>
        <p:sp>
          <p:nvSpPr>
            <p:cNvPr id="9" name="TextBox 76">
              <a:extLst>
                <a:ext uri="{FF2B5EF4-FFF2-40B4-BE49-F238E27FC236}">
                  <a16:creationId xmlns:a16="http://schemas.microsoft.com/office/drawing/2014/main" id="{4FA6B3D5-98F4-674A-8583-4221AF783275}"/>
                </a:ext>
              </a:extLst>
            </p:cNvPr>
            <p:cNvSpPr txBox="1"/>
            <p:nvPr/>
          </p:nvSpPr>
          <p:spPr>
            <a:xfrm>
              <a:off x="2129725" y="3200176"/>
              <a:ext cx="651374" cy="24626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>
                  <a:solidFill>
                    <a:srgbClr val="474747"/>
                  </a:solidFill>
                  <a:highlight>
                    <a:srgbClr val="FFFFFF"/>
                  </a:highlight>
                  <a:latin typeface="Arial"/>
                  <a:cs typeface="Arial"/>
                </a:rPr>
                <a:t>€€</a:t>
              </a:r>
              <a:endParaRPr lang="en-US" sz="1600"/>
            </a:p>
          </p:txBody>
        </p:sp>
        <p:sp>
          <p:nvSpPr>
            <p:cNvPr id="10" name="TextBox 78">
              <a:extLst>
                <a:ext uri="{FF2B5EF4-FFF2-40B4-BE49-F238E27FC236}">
                  <a16:creationId xmlns:a16="http://schemas.microsoft.com/office/drawing/2014/main" id="{0E0FDA4A-D182-AFA2-DFE1-2566FAE315B4}"/>
                </a:ext>
              </a:extLst>
            </p:cNvPr>
            <p:cNvSpPr txBox="1"/>
            <p:nvPr/>
          </p:nvSpPr>
          <p:spPr>
            <a:xfrm>
              <a:off x="2129726" y="1351207"/>
              <a:ext cx="651374" cy="246269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474747"/>
                  </a:solidFill>
                  <a:highlight>
                    <a:srgbClr val="FFFFFF"/>
                  </a:highlight>
                  <a:latin typeface="Arial"/>
                  <a:cs typeface="Arial"/>
                </a:rPr>
                <a:t>€</a:t>
              </a:r>
              <a:endParaRPr lang="en-US" sz="16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0D904C-5EC4-09C1-193D-0F6AE5171242}"/>
              </a:ext>
            </a:extLst>
          </p:cNvPr>
          <p:cNvGrpSpPr/>
          <p:nvPr/>
        </p:nvGrpSpPr>
        <p:grpSpPr>
          <a:xfrm>
            <a:off x="6862714" y="235670"/>
            <a:ext cx="4995940" cy="6354401"/>
            <a:chOff x="6213864" y="1097487"/>
            <a:chExt cx="3504934" cy="466302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8DE6289-FAE3-F198-FE64-6F323A5872BD}"/>
                </a:ext>
              </a:extLst>
            </p:cNvPr>
            <p:cNvSpPr/>
            <p:nvPr/>
          </p:nvSpPr>
          <p:spPr>
            <a:xfrm>
              <a:off x="6888195" y="4683886"/>
              <a:ext cx="2830601" cy="1076627"/>
            </a:xfrm>
            <a:prstGeom prst="rect">
              <a:avLst/>
            </a:prstGeom>
            <a:solidFill>
              <a:srgbClr val="15608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Yearly Baseload </a:t>
              </a:r>
            </a:p>
            <a:p>
              <a:pPr algn="ctr"/>
              <a:r>
                <a:rPr lang="en-US" sz="2400" b="1" dirty="0"/>
                <a:t>(reserved instances)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1D45AF9-D375-4C9E-68C5-5223817A8F1B}"/>
                </a:ext>
              </a:extLst>
            </p:cNvPr>
            <p:cNvSpPr/>
            <p:nvPr/>
          </p:nvSpPr>
          <p:spPr>
            <a:xfrm>
              <a:off x="6888196" y="3183162"/>
              <a:ext cx="2830601" cy="1501587"/>
            </a:xfrm>
            <a:prstGeom prst="rect">
              <a:avLst/>
            </a:prstGeom>
            <a:solidFill>
              <a:srgbClr val="0B76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Weekly Extra Baseload </a:t>
              </a:r>
            </a:p>
            <a:p>
              <a:pPr algn="ctr"/>
              <a:r>
                <a:rPr lang="en-US" sz="2400" b="1" dirty="0"/>
                <a:t>(capacity blocks)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10A7B68-DB7F-3DA7-1AB2-2B7A224E0551}"/>
                </a:ext>
              </a:extLst>
            </p:cNvPr>
            <p:cNvSpPr/>
            <p:nvPr/>
          </p:nvSpPr>
          <p:spPr>
            <a:xfrm>
              <a:off x="6888191" y="2063435"/>
              <a:ext cx="2830606" cy="1119727"/>
            </a:xfrm>
            <a:prstGeom prst="rect">
              <a:avLst/>
            </a:prstGeom>
            <a:solidFill>
              <a:srgbClr val="4E95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Daily/Weekly Schedulable</a:t>
              </a:r>
            </a:p>
            <a:p>
              <a:pPr algn="ctr"/>
              <a:r>
                <a:rPr lang="en-US" sz="2400" b="1" dirty="0"/>
                <a:t>(batch loads)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5AD525B-B52B-75E5-6947-68B7740D7C1C}"/>
                </a:ext>
              </a:extLst>
            </p:cNvPr>
            <p:cNvSpPr/>
            <p:nvPr/>
          </p:nvSpPr>
          <p:spPr>
            <a:xfrm>
              <a:off x="6888196" y="1097487"/>
              <a:ext cx="2830602" cy="965948"/>
            </a:xfrm>
            <a:prstGeom prst="rect">
              <a:avLst/>
            </a:prstGeom>
            <a:solidFill>
              <a:srgbClr val="A6CAE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 b="1" dirty="0"/>
                <a:t>Fully flexible</a:t>
              </a:r>
            </a:p>
            <a:p>
              <a:pPr algn="ctr"/>
              <a:r>
                <a:rPr lang="en-US" sz="2400" b="1" dirty="0"/>
                <a:t>(spot instances)</a:t>
              </a:r>
            </a:p>
          </p:txBody>
        </p:sp>
        <p:sp>
          <p:nvSpPr>
            <p:cNvPr id="23" name="TextBox 80">
              <a:extLst>
                <a:ext uri="{FF2B5EF4-FFF2-40B4-BE49-F238E27FC236}">
                  <a16:creationId xmlns:a16="http://schemas.microsoft.com/office/drawing/2014/main" id="{7946B363-76D9-23D7-8001-F4E1CE19413C}"/>
                </a:ext>
              </a:extLst>
            </p:cNvPr>
            <p:cNvSpPr txBox="1"/>
            <p:nvPr/>
          </p:nvSpPr>
          <p:spPr>
            <a:xfrm>
              <a:off x="6213865" y="5122368"/>
              <a:ext cx="651374" cy="24844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474747"/>
                  </a:solidFill>
                  <a:highlight>
                    <a:srgbClr val="FFFFFF"/>
                  </a:highlight>
                  <a:latin typeface="Arial"/>
                  <a:cs typeface="Arial"/>
                </a:rPr>
                <a:t>€€€€</a:t>
              </a:r>
              <a:endParaRPr lang="en-US" sz="1600" dirty="0"/>
            </a:p>
          </p:txBody>
        </p:sp>
        <p:sp>
          <p:nvSpPr>
            <p:cNvPr id="24" name="TextBox 82">
              <a:extLst>
                <a:ext uri="{FF2B5EF4-FFF2-40B4-BE49-F238E27FC236}">
                  <a16:creationId xmlns:a16="http://schemas.microsoft.com/office/drawing/2014/main" id="{9954D462-76A2-FEAB-8B02-46D3DB29B29E}"/>
                </a:ext>
              </a:extLst>
            </p:cNvPr>
            <p:cNvSpPr txBox="1"/>
            <p:nvPr/>
          </p:nvSpPr>
          <p:spPr>
            <a:xfrm>
              <a:off x="6213865" y="3822485"/>
              <a:ext cx="651374" cy="24844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474747"/>
                  </a:solidFill>
                  <a:highlight>
                    <a:srgbClr val="FFFFFF"/>
                  </a:highlight>
                  <a:latin typeface="Arial"/>
                  <a:cs typeface="Arial"/>
                </a:rPr>
                <a:t>€€€</a:t>
              </a:r>
              <a:endParaRPr lang="en-US" sz="1600" dirty="0"/>
            </a:p>
          </p:txBody>
        </p:sp>
        <p:sp>
          <p:nvSpPr>
            <p:cNvPr id="25" name="TextBox 84">
              <a:extLst>
                <a:ext uri="{FF2B5EF4-FFF2-40B4-BE49-F238E27FC236}">
                  <a16:creationId xmlns:a16="http://schemas.microsoft.com/office/drawing/2014/main" id="{E1F2FAD7-4319-CFB2-1714-BED633EB4C7D}"/>
                </a:ext>
              </a:extLst>
            </p:cNvPr>
            <p:cNvSpPr txBox="1"/>
            <p:nvPr/>
          </p:nvSpPr>
          <p:spPr>
            <a:xfrm>
              <a:off x="6213864" y="2511396"/>
              <a:ext cx="651374" cy="24844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474747"/>
                  </a:solidFill>
                  <a:highlight>
                    <a:srgbClr val="FFFFFF"/>
                  </a:highlight>
                  <a:latin typeface="Arial"/>
                  <a:cs typeface="Arial"/>
                </a:rPr>
                <a:t>€€</a:t>
              </a:r>
              <a:endParaRPr lang="en-US" sz="1600" dirty="0"/>
            </a:p>
          </p:txBody>
        </p:sp>
        <p:sp>
          <p:nvSpPr>
            <p:cNvPr id="26" name="TextBox 86">
              <a:extLst>
                <a:ext uri="{FF2B5EF4-FFF2-40B4-BE49-F238E27FC236}">
                  <a16:creationId xmlns:a16="http://schemas.microsoft.com/office/drawing/2014/main" id="{B87E6A07-B785-70AC-87F6-E883BD4C540D}"/>
                </a:ext>
              </a:extLst>
            </p:cNvPr>
            <p:cNvSpPr txBox="1"/>
            <p:nvPr/>
          </p:nvSpPr>
          <p:spPr>
            <a:xfrm>
              <a:off x="6213865" y="1480456"/>
              <a:ext cx="651374" cy="248440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474747"/>
                  </a:solidFill>
                  <a:highlight>
                    <a:srgbClr val="FFFFFF"/>
                  </a:highlight>
                  <a:latin typeface="Arial"/>
                  <a:cs typeface="Arial"/>
                </a:rPr>
                <a:t>€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6995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54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Thijs van Waveren</dc:creator>
  <cp:lastModifiedBy>Thijs van Waveren</cp:lastModifiedBy>
  <cp:revision>2</cp:revision>
  <dcterms:created xsi:type="dcterms:W3CDTF">2026-03-02T17:17:39Z</dcterms:created>
  <dcterms:modified xsi:type="dcterms:W3CDTF">2026-03-02T17:42:37Z</dcterms:modified>
</cp:coreProperties>
</file>